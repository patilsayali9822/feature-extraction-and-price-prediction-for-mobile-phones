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92327" y="3205736"/>
            <a:ext cx="106070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Feature Extraction and
Mobile Phone Price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9487" y="2102382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dirty="0">
                <a:solidFill>
                  <a:srgbClr val="BED5EE"/>
                </a:solidFill>
              </a:rPr>
              <a:t>Machine Learning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56589" y="1310481"/>
            <a:ext cx="50785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Project 4:  </a:t>
            </a:r>
            <a:r>
              <a:rPr sz="3200" b="1" dirty="0">
                <a:solidFill>
                  <a:srgbClr val="FFFFFF"/>
                </a:solidFill>
              </a:rPr>
              <a:t>Sayali Patil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2B49"/>
                </a:solidFill>
              </a:rPr>
              <a:t>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A3038"/>
                </a:solidFill>
              </a:defRPr>
            </a:pPr>
            <a:r>
              <a:t>Analyze mobile phone specifications and understand their relationship with selling price.</a:t>
            </a:r>
          </a:p>
          <a:p>
            <a:pPr>
              <a:spcAft>
                <a:spcPts val="1200"/>
              </a:spcAft>
              <a:defRPr sz="1800">
                <a:solidFill>
                  <a:srgbClr val="2A3038"/>
                </a:solidFill>
              </a:defRPr>
            </a:pPr>
            <a:r>
              <a:t>Extract numerical information from memory, RAM, camera, battery and other fields.</a:t>
            </a:r>
          </a:p>
          <a:p>
            <a:pPr>
              <a:spcAft>
                <a:spcPts val="1200"/>
              </a:spcAft>
              <a:defRPr sz="1800">
                <a:solidFill>
                  <a:srgbClr val="2A3038"/>
                </a:solidFill>
              </a:defRPr>
            </a:pPr>
            <a:r>
              <a:t>Encode categorical variables such as model, colour and processor.</a:t>
            </a:r>
          </a:p>
          <a:p>
            <a:pPr>
              <a:spcAft>
                <a:spcPts val="1200"/>
              </a:spcAft>
              <a:defRPr sz="1800">
                <a:solidFill>
                  <a:srgbClr val="2A3038"/>
                </a:solidFill>
              </a:defRPr>
            </a:pPr>
            <a:r>
              <a:t>Build regression models to predict mobile phone prices.</a:t>
            </a:r>
          </a:p>
          <a:p>
            <a:pPr>
              <a:spcAft>
                <a:spcPts val="1200"/>
              </a:spcAft>
              <a:defRPr sz="1800">
                <a:solidFill>
                  <a:srgbClr val="2A3038"/>
                </a:solidFill>
              </a:defRPr>
            </a:pPr>
            <a:r>
              <a:t>Compare Linear Regression and Random Forest using MAE, RMSE and R².</a:t>
            </a:r>
          </a:p>
          <a:p>
            <a:pPr>
              <a:spcAft>
                <a:spcPts val="1200"/>
              </a:spcAft>
              <a:defRPr sz="1800">
                <a:solidFill>
                  <a:srgbClr val="2A3038"/>
                </a:solidFill>
              </a:defRPr>
            </a:pPr>
            <a:r>
              <a:t>Identify influential features and provide business pricing recommendations.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C76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2B49"/>
                </a:solidFill>
              </a:rP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C76"/>
                </a:solidFill>
              </a:rPr>
              <a:t>Actual dataset used in the completed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286000" cy="1188720"/>
          </a:xfrm>
          <a:prstGeom prst="roundRect">
            <a:avLst/>
          </a:prstGeom>
          <a:solidFill>
            <a:srgbClr val="F1F6FB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73152" cy="1188720"/>
          </a:xfrm>
          <a:prstGeom prst="rect">
            <a:avLst/>
          </a:prstGeom>
          <a:solidFill>
            <a:srgbClr val="2C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44751"/>
            <a:ext cx="1920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46C76"/>
                </a:solidFill>
              </a:rPr>
              <a:t>Records</a:t>
            </a:r>
          </a:p>
          <a:p>
            <a:r>
              <a:rPr sz="2300" b="1">
                <a:solidFill>
                  <a:srgbClr val="182B49"/>
                </a:solidFill>
              </a:rPr>
              <a:t>541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280160"/>
            <a:ext cx="2286000" cy="1188720"/>
          </a:xfrm>
          <a:prstGeom prst="roundRect">
            <a:avLst/>
          </a:prstGeom>
          <a:solidFill>
            <a:srgbClr val="F1F6FB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73152" cy="1188720"/>
          </a:xfrm>
          <a:prstGeom prst="rect">
            <a:avLst/>
          </a:prstGeom>
          <a:solidFill>
            <a:srgbClr val="2C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29000" y="1444751"/>
            <a:ext cx="1920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46C76"/>
                </a:solidFill>
              </a:rPr>
              <a:t>Columns</a:t>
            </a:r>
          </a:p>
          <a:p>
            <a:r>
              <a:rPr sz="2300" b="1">
                <a:solidFill>
                  <a:srgbClr val="182B49"/>
                </a:solidFill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1280160"/>
            <a:ext cx="2286000" cy="1188720"/>
          </a:xfrm>
          <a:prstGeom prst="roundRect">
            <a:avLst/>
          </a:prstGeom>
          <a:solidFill>
            <a:srgbClr val="F1F6FB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0" y="1280160"/>
            <a:ext cx="73152" cy="1188720"/>
          </a:xfrm>
          <a:prstGeom prst="rect">
            <a:avLst/>
          </a:prstGeom>
          <a:solidFill>
            <a:srgbClr val="2C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97880" y="1444751"/>
            <a:ext cx="1920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46C76"/>
                </a:solidFill>
              </a:rPr>
              <a:t>Training Records</a:t>
            </a:r>
          </a:p>
          <a:p>
            <a:r>
              <a:rPr sz="2300" b="1">
                <a:solidFill>
                  <a:srgbClr val="182B49"/>
                </a:solidFill>
              </a:rPr>
              <a:t>432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80160"/>
            <a:ext cx="2286000" cy="1188720"/>
          </a:xfrm>
          <a:prstGeom prst="roundRect">
            <a:avLst/>
          </a:prstGeom>
          <a:solidFill>
            <a:srgbClr val="F1F6FB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280160"/>
            <a:ext cx="73152" cy="1188720"/>
          </a:xfrm>
          <a:prstGeom prst="rect">
            <a:avLst/>
          </a:prstGeom>
          <a:solidFill>
            <a:srgbClr val="2C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1444751"/>
            <a:ext cx="1920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46C76"/>
                </a:solidFill>
              </a:rPr>
              <a:t>Testing Records</a:t>
            </a:r>
          </a:p>
          <a:p>
            <a:r>
              <a:rPr sz="2300" b="1">
                <a:solidFill>
                  <a:srgbClr val="182B49"/>
                </a:solidFill>
              </a:rPr>
              <a:t>109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8346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A3038"/>
                </a:solidFill>
              </a:defRPr>
            </a:pPr>
            <a:r>
              <a:t>Target variable: Price.</a:t>
            </a:r>
          </a:p>
          <a:p>
            <a:pPr>
              <a:spcAft>
                <a:spcPts val="1200"/>
              </a:spcAft>
              <a:defRPr sz="1700">
                <a:solidFill>
                  <a:srgbClr val="2A3038"/>
                </a:solidFill>
              </a:defRPr>
            </a:pPr>
            <a:r>
              <a:t>Numerical features: Memory, RAM, Battery, Rear Camera, Front Camera, AI Lens, Mobile Height and source index.</a:t>
            </a:r>
          </a:p>
          <a:p>
            <a:pPr>
              <a:spcAft>
                <a:spcPts val="1200"/>
              </a:spcAft>
              <a:defRPr sz="1700">
                <a:solidFill>
                  <a:srgbClr val="2A3038"/>
                </a:solidFill>
              </a:defRPr>
            </a:pPr>
            <a:r>
              <a:t>Categorical features: Model, Colour and Processor.</a:t>
            </a:r>
          </a:p>
          <a:p>
            <a:pPr>
              <a:spcAft>
                <a:spcPts val="1200"/>
              </a:spcAft>
              <a:defRPr sz="1700">
                <a:solidFill>
                  <a:srgbClr val="2A3038"/>
                </a:solidFill>
              </a:defRPr>
            </a:pPr>
            <a:r>
              <a:t>No missing values and no duplicate records were found.</a:t>
            </a:r>
          </a:p>
          <a:p>
            <a:pPr>
              <a:spcAft>
                <a:spcPts val="1200"/>
              </a:spcAft>
              <a:defRPr sz="1700">
                <a:solidFill>
                  <a:srgbClr val="2A3038"/>
                </a:solidFill>
              </a:defRPr>
            </a:pPr>
            <a:r>
              <a:t>Price range: ₹920–₹80,999; average price: approximately ₹16,228.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0704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C76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2B49"/>
                </a:solidFill>
              </a:rPr>
              <a:t>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A3038"/>
                </a:solidFill>
              </a:defRPr>
            </a:pPr>
            <a:r>
              <a:t>Standardized column names and converted Prize into the target column Price.</a:t>
            </a:r>
          </a:p>
          <a:p>
            <a:pPr>
              <a:spcAft>
                <a:spcPts val="1200"/>
              </a:spcAft>
              <a:defRPr sz="1700">
                <a:solidFill>
                  <a:srgbClr val="2A3038"/>
                </a:solidFill>
              </a:defRPr>
            </a:pPr>
            <a:r>
              <a:t>Extracted numeric values from strings such as 50MP, 16MP and 7,299.</a:t>
            </a:r>
          </a:p>
          <a:p>
            <a:pPr>
              <a:spcAft>
                <a:spcPts val="1200"/>
              </a:spcAft>
              <a:defRPr sz="1700">
                <a:solidFill>
                  <a:srgbClr val="2A3038"/>
                </a:solidFill>
              </a:defRPr>
            </a:pPr>
            <a:r>
              <a:t>Removed duplicate rows — 0 duplicates were found.</a:t>
            </a:r>
          </a:p>
          <a:p>
            <a:pPr>
              <a:spcAft>
                <a:spcPts val="1200"/>
              </a:spcAft>
              <a:defRPr sz="1700">
                <a:solidFill>
                  <a:srgbClr val="2A3038"/>
                </a:solidFill>
              </a:defRPr>
            </a:pPr>
            <a:r>
              <a:t>Cleaned price values and removed invalid/non-positive target values.</a:t>
            </a:r>
          </a:p>
          <a:p>
            <a:pPr>
              <a:spcAft>
                <a:spcPts val="1200"/>
              </a:spcAft>
              <a:defRPr sz="1700">
                <a:solidFill>
                  <a:srgbClr val="2A3038"/>
                </a:solidFill>
              </a:defRPr>
            </a:pPr>
            <a:r>
              <a:t>Numeric features were imputed and standardized using StandardScaler.</a:t>
            </a:r>
          </a:p>
          <a:p>
            <a:pPr>
              <a:spcAft>
                <a:spcPts val="1200"/>
              </a:spcAft>
              <a:defRPr sz="1700">
                <a:solidFill>
                  <a:srgbClr val="2A3038"/>
                </a:solidFill>
              </a:defRPr>
            </a:pPr>
            <a:r>
              <a:t>Categorical features were imputed and transformed using One-Hot Encoding.</a:t>
            </a:r>
          </a:p>
          <a:p>
            <a:pPr>
              <a:spcAft>
                <a:spcPts val="1200"/>
              </a:spcAft>
              <a:defRPr sz="1700">
                <a:solidFill>
                  <a:srgbClr val="2A3038"/>
                </a:solidFill>
              </a:defRPr>
            </a:pPr>
            <a:r>
              <a:t>Applied an 80/20 train-test split with random_state=42.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C76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2B49"/>
                </a:solidFill>
              </a:rP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C76"/>
                </a:solidFill>
              </a:rPr>
              <a:t>Correlation with Price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2560320" cy="1143000"/>
          </a:xfrm>
          <a:prstGeom prst="roundRect">
            <a:avLst/>
          </a:prstGeom>
          <a:solidFill>
            <a:srgbClr val="F1F6FB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73152" cy="1143000"/>
          </a:xfrm>
          <a:prstGeom prst="rect">
            <a:avLst/>
          </a:prstGeom>
          <a:solidFill>
            <a:srgbClr val="2C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44751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46C76"/>
                </a:solidFill>
              </a:rPr>
              <a:t>Memory</a:t>
            </a:r>
          </a:p>
          <a:p>
            <a:r>
              <a:rPr sz="2300" b="1">
                <a:solidFill>
                  <a:srgbClr val="182B49"/>
                </a:solidFill>
              </a:rPr>
              <a:t>0.5667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280160"/>
            <a:ext cx="2560320" cy="1143000"/>
          </a:xfrm>
          <a:prstGeom prst="roundRect">
            <a:avLst/>
          </a:prstGeom>
          <a:solidFill>
            <a:srgbClr val="F1F6FB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4720" y="1280160"/>
            <a:ext cx="73152" cy="1143000"/>
          </a:xfrm>
          <a:prstGeom prst="rect">
            <a:avLst/>
          </a:prstGeom>
          <a:solidFill>
            <a:srgbClr val="2C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03320" y="1444751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46C76"/>
                </a:solidFill>
              </a:rPr>
              <a:t>Front Camera</a:t>
            </a:r>
          </a:p>
          <a:p>
            <a:r>
              <a:rPr sz="2300" b="1">
                <a:solidFill>
                  <a:srgbClr val="182B49"/>
                </a:solidFill>
              </a:rPr>
              <a:t>0.5323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80160"/>
            <a:ext cx="2560320" cy="1143000"/>
          </a:xfrm>
          <a:prstGeom prst="roundRect">
            <a:avLst/>
          </a:prstGeom>
          <a:solidFill>
            <a:srgbClr val="F1F6FB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280160"/>
            <a:ext cx="73152" cy="1143000"/>
          </a:xfrm>
          <a:prstGeom prst="rect">
            <a:avLst/>
          </a:prstGeom>
          <a:solidFill>
            <a:srgbClr val="2C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444751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46C76"/>
                </a:solidFill>
              </a:rPr>
              <a:t>RAM</a:t>
            </a:r>
          </a:p>
          <a:p>
            <a:r>
              <a:rPr sz="2300" b="1">
                <a:solidFill>
                  <a:srgbClr val="182B49"/>
                </a:solidFill>
              </a:rPr>
              <a:t>0.5320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280160"/>
            <a:ext cx="2377440" cy="1143000"/>
          </a:xfrm>
          <a:prstGeom prst="roundRect">
            <a:avLst/>
          </a:prstGeom>
          <a:solidFill>
            <a:srgbClr val="F1F6FB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052560" y="1280160"/>
            <a:ext cx="73152" cy="1143000"/>
          </a:xfrm>
          <a:prstGeom prst="rect">
            <a:avLst/>
          </a:prstGeom>
          <a:solidFill>
            <a:srgbClr val="2C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81160" y="1444751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46C76"/>
                </a:solidFill>
              </a:rPr>
              <a:t>Rear Camera</a:t>
            </a:r>
          </a:p>
          <a:p>
            <a:r>
              <a:rPr sz="2300" b="1">
                <a:solidFill>
                  <a:srgbClr val="182B49"/>
                </a:solidFill>
              </a:rPr>
              <a:t>0.4104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8346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A3038"/>
                </a:solidFill>
              </a:defRPr>
            </a:pPr>
            <a:r>
              <a:t>Memory, front camera, RAM and rear camera show positive relationships with price.</a:t>
            </a:r>
          </a:p>
          <a:p>
            <a:pPr>
              <a:spcAft>
                <a:spcPts val="1200"/>
              </a:spcAft>
              <a:defRPr sz="1800">
                <a:solidFill>
                  <a:srgbClr val="2A3038"/>
                </a:solidFill>
              </a:defRPr>
            </a:pPr>
            <a:r>
              <a:t>Battery has a near-zero correlation with price (-0.0343).</a:t>
            </a:r>
          </a:p>
          <a:p>
            <a:pPr>
              <a:spcAft>
                <a:spcPts val="1200"/>
              </a:spcAft>
              <a:defRPr sz="1800">
                <a:solidFill>
                  <a:srgbClr val="2A3038"/>
                </a:solidFill>
              </a:defRPr>
            </a:pPr>
            <a:r>
              <a:t>AI Lens has a weak negative correlation with price (-0.1537).</a:t>
            </a:r>
          </a:p>
          <a:p>
            <a:pPr>
              <a:spcAft>
                <a:spcPts val="1200"/>
              </a:spcAft>
              <a:defRPr sz="1800">
                <a:solidFill>
                  <a:srgbClr val="2A3038"/>
                </a:solidFill>
              </a:defRPr>
            </a:pPr>
            <a:r>
              <a:t>The dataset contains a wide range of phone prices, supporting a regression approach.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0704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C76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2B49"/>
                </a:solidFill>
              </a:rPr>
              <a:t>Feature Extraction &amp;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A3038"/>
                </a:solidFill>
              </a:defRPr>
            </a:pPr>
            <a:r>
              <a:t>Converted camera specifications from text into numeric megapixel values.</a:t>
            </a:r>
          </a:p>
          <a:p>
            <a:pPr>
              <a:spcAft>
                <a:spcPts val="1200"/>
              </a:spcAft>
              <a:defRPr sz="1900">
                <a:solidFill>
                  <a:srgbClr val="2A3038"/>
                </a:solidFill>
              </a:defRPr>
            </a:pPr>
            <a:r>
              <a:t>Converted formatted price values into numeric target values.</a:t>
            </a:r>
          </a:p>
          <a:p>
            <a:pPr>
              <a:spcAft>
                <a:spcPts val="1200"/>
              </a:spcAft>
              <a:defRPr sz="1900">
                <a:solidFill>
                  <a:srgbClr val="2A3038"/>
                </a:solidFill>
              </a:defRPr>
            </a:pPr>
            <a:r>
              <a:t>Applied One-Hot Encoding to Model, Colour and Processor.</a:t>
            </a:r>
          </a:p>
          <a:p>
            <a:pPr>
              <a:spcAft>
                <a:spcPts val="1200"/>
              </a:spcAft>
              <a:defRPr sz="1900">
                <a:solidFill>
                  <a:srgbClr val="2A3038"/>
                </a:solidFill>
              </a:defRPr>
            </a:pPr>
            <a:r>
              <a:t>Random Forest feature importance was used to rank predictive variables.</a:t>
            </a:r>
          </a:p>
          <a:p>
            <a:pPr>
              <a:spcAft>
                <a:spcPts val="1200"/>
              </a:spcAft>
              <a:defRPr sz="1900">
                <a:solidFill>
                  <a:srgbClr val="2A3038"/>
                </a:solidFill>
              </a:defRPr>
            </a:pPr>
            <a:r>
              <a:t>Front Camera emerged as the strongest feature, followed by Memory, Battery and RAM.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C76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2B49"/>
                </a:solidFill>
              </a:rPr>
              <a:t>Machine Learning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5120640" cy="1508760"/>
          </a:xfrm>
          <a:prstGeom prst="roundRect">
            <a:avLst/>
          </a:prstGeom>
          <a:solidFill>
            <a:srgbClr val="F1F6FB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371600"/>
            <a:ext cx="73152" cy="1508760"/>
          </a:xfrm>
          <a:prstGeom prst="rect">
            <a:avLst/>
          </a:prstGeom>
          <a:solidFill>
            <a:srgbClr val="2C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536192"/>
            <a:ext cx="475487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46C76"/>
                </a:solidFill>
              </a:rPr>
              <a:t>Model 1</a:t>
            </a:r>
          </a:p>
          <a:p>
            <a:r>
              <a:rPr sz="2300" b="1">
                <a:solidFill>
                  <a:srgbClr val="182B49"/>
                </a:solidFill>
              </a:rPr>
              <a:t>Linear Regression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1508760"/>
          </a:xfrm>
          <a:prstGeom prst="roundRect">
            <a:avLst/>
          </a:prstGeom>
          <a:solidFill>
            <a:srgbClr val="F1F6FB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73152" cy="1508760"/>
          </a:xfrm>
          <a:prstGeom prst="rect">
            <a:avLst/>
          </a:prstGeom>
          <a:solidFill>
            <a:srgbClr val="22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536192"/>
            <a:ext cx="475487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46C76"/>
                </a:solidFill>
              </a:rPr>
              <a:t>Model 2</a:t>
            </a:r>
          </a:p>
          <a:p>
            <a:r>
              <a:rPr sz="2300" b="1">
                <a:solidFill>
                  <a:srgbClr val="182B49"/>
                </a:solidFill>
              </a:rPr>
              <a:t>Random Forest Regressor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A3038"/>
                </a:solidFill>
              </a:defRPr>
            </a:pPr>
            <a:r>
              <a:t>Linear Regression was used as a simple baseline.</a:t>
            </a:r>
          </a:p>
          <a:p>
            <a:pPr>
              <a:spcAft>
                <a:spcPts val="1200"/>
              </a:spcAft>
              <a:defRPr sz="1800">
                <a:solidFill>
                  <a:srgbClr val="2A3038"/>
                </a:solidFill>
              </a:defRPr>
            </a:pPr>
            <a:r>
              <a:t>Random Forest was selected to capture nonlinear relationships and interactions.</a:t>
            </a:r>
          </a:p>
          <a:p>
            <a:pPr>
              <a:spcAft>
                <a:spcPts val="1200"/>
              </a:spcAft>
              <a:defRPr sz="1800">
                <a:solidFill>
                  <a:srgbClr val="2A3038"/>
                </a:solidFill>
              </a:defRPr>
            </a:pPr>
            <a:r>
              <a:t>Random Forest was trained with 300 trees and random_state=42.</a:t>
            </a:r>
          </a:p>
          <a:p>
            <a:pPr>
              <a:spcAft>
                <a:spcPts val="1200"/>
              </a:spcAft>
              <a:defRPr sz="1800">
                <a:solidFill>
                  <a:srgbClr val="2A3038"/>
                </a:solidFill>
              </a:defRPr>
            </a:pPr>
            <a:r>
              <a:t>Evaluation metrics: MAE, RMSE and R².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0704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C76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2B49"/>
                </a:solidFill>
              </a:rPr>
              <a:t>Machine Learning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331720"/>
            <a:ext cx="1371600" cy="1143000"/>
          </a:xfrm>
          <a:prstGeom prst="roundRect">
            <a:avLst/>
          </a:prstGeom>
          <a:solidFill>
            <a:srgbClr val="F1F6FB"/>
          </a:solidFill>
          <a:ln>
            <a:solidFill>
              <a:srgbClr val="CDD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4632" y="2578608"/>
            <a:ext cx="12252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82B49"/>
                </a:solidFill>
              </a:rPr>
              <a:t>Load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3936" y="2587752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C69B0"/>
                </a:solidFill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75688" y="2331720"/>
            <a:ext cx="1371600" cy="1143000"/>
          </a:xfrm>
          <a:prstGeom prst="roundRect">
            <a:avLst/>
          </a:prstGeom>
          <a:solidFill>
            <a:srgbClr val="F1F6FB"/>
          </a:solidFill>
          <a:ln>
            <a:solidFill>
              <a:srgbClr val="CDD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48840" y="2578608"/>
            <a:ext cx="12252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82B49"/>
                </a:solidFill>
              </a:rPr>
              <a:t>Clean &amp; Extract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38144" y="2587752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C69B0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39896" y="2331720"/>
            <a:ext cx="1371600" cy="1143000"/>
          </a:xfrm>
          <a:prstGeom prst="roundRect">
            <a:avLst/>
          </a:prstGeom>
          <a:solidFill>
            <a:srgbClr val="F1F6FB"/>
          </a:solidFill>
          <a:ln>
            <a:solidFill>
              <a:srgbClr val="CDD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13048" y="2578608"/>
            <a:ext cx="12252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82B49"/>
                </a:solidFill>
              </a:rPr>
              <a:t>EDA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02352" y="2587752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C69B0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04104" y="2331720"/>
            <a:ext cx="1371600" cy="1143000"/>
          </a:xfrm>
          <a:prstGeom prst="roundRect">
            <a:avLst/>
          </a:prstGeom>
          <a:solidFill>
            <a:srgbClr val="F1F6FB"/>
          </a:solidFill>
          <a:ln>
            <a:solidFill>
              <a:srgbClr val="CDD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77256" y="2578608"/>
            <a:ext cx="12252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82B49"/>
                </a:solidFill>
              </a:rPr>
              <a:t>Encode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587752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C69B0"/>
                </a:solidFill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68312" y="2331720"/>
            <a:ext cx="1371600" cy="1143000"/>
          </a:xfrm>
          <a:prstGeom prst="roundRect">
            <a:avLst/>
          </a:prstGeom>
          <a:solidFill>
            <a:srgbClr val="F1F6FB"/>
          </a:solidFill>
          <a:ln>
            <a:solidFill>
              <a:srgbClr val="CDD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41464" y="2578608"/>
            <a:ext cx="12252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82B49"/>
                </a:solidFill>
              </a:rPr>
              <a:t>Train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2587752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C69B0"/>
                </a:solidFill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19" y="2331720"/>
            <a:ext cx="1371600" cy="1143000"/>
          </a:xfrm>
          <a:prstGeom prst="roundRect">
            <a:avLst/>
          </a:prstGeom>
          <a:solidFill>
            <a:srgbClr val="F1F6FB"/>
          </a:solidFill>
          <a:ln>
            <a:solidFill>
              <a:srgbClr val="CDD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05672" y="2578608"/>
            <a:ext cx="12252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82B49"/>
                </a:solidFill>
              </a:rPr>
              <a:t>Evaluate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4976" y="2587752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C69B0"/>
                </a:solidFill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96728" y="2331720"/>
            <a:ext cx="1371600" cy="1143000"/>
          </a:xfrm>
          <a:prstGeom prst="roundRect">
            <a:avLst/>
          </a:prstGeom>
          <a:solidFill>
            <a:srgbClr val="F1F6FB"/>
          </a:solidFill>
          <a:ln>
            <a:solidFill>
              <a:srgbClr val="CDD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69880" y="2578608"/>
            <a:ext cx="12252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82B49"/>
                </a:solidFill>
              </a:rPr>
              <a:t>Interpret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3434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A3038"/>
                </a:solidFill>
              </a:defRPr>
            </a:pPr>
            <a:r>
              <a:t>Training set: 432 records</a:t>
            </a:r>
          </a:p>
          <a:p>
            <a:pPr>
              <a:spcAft>
                <a:spcPts val="1200"/>
              </a:spcAft>
              <a:defRPr sz="1800">
                <a:solidFill>
                  <a:srgbClr val="2A3038"/>
                </a:solidFill>
              </a:defRPr>
            </a:pPr>
            <a:r>
              <a:t>Testing set: 109 records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60704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C76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2B49"/>
                </a:solidFill>
              </a:rPr>
              <a:t>Model Performance — Actual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3474720" cy="1417320"/>
          </a:xfrm>
          <a:prstGeom prst="roundRect">
            <a:avLst/>
          </a:prstGeom>
          <a:solidFill>
            <a:srgbClr val="F1F6FB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73152" cy="1417320"/>
          </a:xfrm>
          <a:prstGeom prst="rect">
            <a:avLst/>
          </a:prstGeom>
          <a:solidFill>
            <a:srgbClr val="22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44751"/>
            <a:ext cx="3108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46C76"/>
                </a:solidFill>
              </a:rPr>
              <a:t>Random Forest MAE</a:t>
            </a:r>
          </a:p>
          <a:p>
            <a:r>
              <a:rPr sz="2300" b="1">
                <a:solidFill>
                  <a:srgbClr val="182B49"/>
                </a:solidFill>
              </a:rPr>
              <a:t>₹1,898.74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280160"/>
            <a:ext cx="3474720" cy="1417320"/>
          </a:xfrm>
          <a:prstGeom prst="roundRect">
            <a:avLst/>
          </a:prstGeom>
          <a:solidFill>
            <a:srgbClr val="F1F6FB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43400" y="1280160"/>
            <a:ext cx="73152" cy="1417320"/>
          </a:xfrm>
          <a:prstGeom prst="rect">
            <a:avLst/>
          </a:prstGeom>
          <a:solidFill>
            <a:srgbClr val="22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444751"/>
            <a:ext cx="3108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46C76"/>
                </a:solidFill>
              </a:rPr>
              <a:t>Random Forest RMSE</a:t>
            </a:r>
          </a:p>
          <a:p>
            <a:r>
              <a:rPr sz="2300" b="1">
                <a:solidFill>
                  <a:srgbClr val="182B49"/>
                </a:solidFill>
              </a:rPr>
              <a:t>₹4,771.00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80160"/>
            <a:ext cx="3474720" cy="1417320"/>
          </a:xfrm>
          <a:prstGeom prst="roundRect">
            <a:avLst/>
          </a:prstGeom>
          <a:solidFill>
            <a:srgbClr val="F1F6FB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46720" y="1280160"/>
            <a:ext cx="73152" cy="1417320"/>
          </a:xfrm>
          <a:prstGeom prst="rect">
            <a:avLst/>
          </a:prstGeom>
          <a:solidFill>
            <a:srgbClr val="22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444751"/>
            <a:ext cx="3108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46C76"/>
                </a:solidFill>
              </a:rPr>
              <a:t>Random Forest R²</a:t>
            </a:r>
          </a:p>
          <a:p>
            <a:r>
              <a:rPr sz="2300" b="1">
                <a:solidFill>
                  <a:srgbClr val="182B49"/>
                </a:solidFill>
              </a:rPr>
              <a:t>0.8348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143000" y="3154680"/>
          <a:ext cx="9829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A3038"/>
                          </a:solidFill>
                        </a:rP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A3038"/>
                          </a:solidFill>
                        </a:rPr>
                        <a:t>₹2,181.25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A3038"/>
                          </a:solidFill>
                        </a:rPr>
                        <a:t>₹6,225.85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A3038"/>
                          </a:solidFill>
                        </a:rPr>
                        <a:t>0.7188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A3038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A3038"/>
                          </a:solidFill>
                        </a:rPr>
                        <a:t>₹1,898.74</a:t>
                      </a:r>
                    </a:p>
                  </a:txBody>
                  <a:tcPr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A3038"/>
                          </a:solidFill>
                        </a:rPr>
                        <a:t>₹4,771.00</a:t>
                      </a:r>
                    </a:p>
                  </a:txBody>
                  <a:tcPr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A3038"/>
                          </a:solidFill>
                        </a:rPr>
                        <a:t>0.8348</a:t>
                      </a:r>
                    </a:p>
                  </a:txBody>
                  <a:tcPr>
                    <a:solidFill>
                      <a:srgbClr val="F1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22960" y="52578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A3038"/>
                </a:solidFill>
              </a:defRPr>
            </a:pPr>
            <a:r>
              <a:t>Random Forest reduces MAE by ₹282.51 compared with Linear Regression.</a:t>
            </a:r>
          </a:p>
          <a:p>
            <a:pPr>
              <a:spcAft>
                <a:spcPts val="1200"/>
              </a:spcAft>
              <a:defRPr sz="1400">
                <a:solidFill>
                  <a:srgbClr val="2A3038"/>
                </a:solidFill>
              </a:defRPr>
            </a:pPr>
            <a:r>
              <a:t>Random Forest reduces RMSE by ₹1,454.85 and achieves R² = 0.8348.</a:t>
            </a:r>
          </a:p>
          <a:p>
            <a:pPr>
              <a:spcAft>
                <a:spcPts val="1200"/>
              </a:spcAft>
              <a:defRPr sz="1400">
                <a:solidFill>
                  <a:srgbClr val="2A3038"/>
                </a:solidFill>
              </a:defRPr>
            </a:pPr>
            <a:r>
              <a:t>The model explains approximately 83.48% of test-set price variance.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0704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C76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2B49"/>
                </a:solidFill>
              </a:rPr>
              <a:t>Random Forest Feature Importance — Actual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143000"/>
          <a:ext cx="97840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5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Rank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Importance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A3038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A3038"/>
                          </a:solidFill>
                        </a:rPr>
                        <a:t>Front Camera</a:t>
                      </a:r>
                    </a:p>
                  </a:txBody>
                  <a:tcPr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A3038"/>
                          </a:solidFill>
                        </a:rPr>
                        <a:t>0.4116</a:t>
                      </a:r>
                    </a:p>
                  </a:txBody>
                  <a:tcPr>
                    <a:solidFill>
                      <a:srgbClr val="F1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A3038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A3038"/>
                          </a:solidFill>
                        </a:rPr>
                        <a:t>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A3038"/>
                          </a:solidFill>
                        </a:rPr>
                        <a:t>0.0837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A3038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A3038"/>
                          </a:solidFill>
                        </a:rPr>
                        <a:t>Battery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A3038"/>
                          </a:solidFill>
                        </a:rPr>
                        <a:t>0.0827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A3038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A3038"/>
                          </a:solidFill>
                        </a:rPr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A3038"/>
                          </a:solidFill>
                        </a:rPr>
                        <a:t>0.0575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A3038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A3038"/>
                          </a:solidFill>
                        </a:rPr>
                        <a:t>APPLE iPhone 14 Plus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A3038"/>
                          </a:solidFill>
                        </a:rPr>
                        <a:t>0.0565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A3038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A3038"/>
                          </a:solidFill>
                        </a:rPr>
                        <a:t>Google Pixel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A3038"/>
                          </a:solidFill>
                        </a:rPr>
                        <a:t>0.0455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A3038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A3038"/>
                          </a:solidFill>
                        </a:rPr>
                        <a:t>Google Tensor G2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A3038"/>
                          </a:solidFill>
                        </a:rPr>
                        <a:t>0.0451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A3038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A3038"/>
                          </a:solidFill>
                        </a:rPr>
                        <a:t>Mobile Height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A3038"/>
                          </a:solidFill>
                        </a:rPr>
                        <a:t>0.0369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A3038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A3038"/>
                          </a:solidFill>
                        </a:rPr>
                        <a:t>Rear Camera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A3038"/>
                          </a:solidFill>
                        </a:rPr>
                        <a:t>0.0324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552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A3038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A3038"/>
                          </a:solidFill>
                        </a:rPr>
                        <a:t>Source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A3038"/>
                          </a:solidFill>
                        </a:rPr>
                        <a:t>0.0305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C76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2B49"/>
                </a:solidFill>
              </a:rPr>
              <a:t>Key Feature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474720" cy="1417320"/>
          </a:xfrm>
          <a:prstGeom prst="roundRect">
            <a:avLst/>
          </a:prstGeom>
          <a:solidFill>
            <a:srgbClr val="F1F6FB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73152" cy="1417320"/>
          </a:xfrm>
          <a:prstGeom prst="rect">
            <a:avLst/>
          </a:prstGeom>
          <a:solidFill>
            <a:srgbClr val="22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90472"/>
            <a:ext cx="3108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46C76"/>
                </a:solidFill>
              </a:rPr>
              <a:t>Top Feature</a:t>
            </a:r>
          </a:p>
          <a:p>
            <a:r>
              <a:rPr sz="2300" b="1">
                <a:solidFill>
                  <a:srgbClr val="182B49"/>
                </a:solidFill>
              </a:rPr>
              <a:t>Front Camera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474720" cy="1417320"/>
          </a:xfrm>
          <a:prstGeom prst="roundRect">
            <a:avLst/>
          </a:prstGeom>
          <a:solidFill>
            <a:srgbClr val="F1F6FB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43400" y="1325880"/>
            <a:ext cx="73152" cy="1417320"/>
          </a:xfrm>
          <a:prstGeom prst="rect">
            <a:avLst/>
          </a:prstGeom>
          <a:solidFill>
            <a:srgbClr val="22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490472"/>
            <a:ext cx="3108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46C76"/>
                </a:solidFill>
              </a:rPr>
              <a:t>Importance</a:t>
            </a:r>
          </a:p>
          <a:p>
            <a:r>
              <a:rPr sz="2300" b="1">
                <a:solidFill>
                  <a:srgbClr val="182B49"/>
                </a:solidFill>
              </a:rPr>
              <a:t>0.4116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325880"/>
            <a:ext cx="3474720" cy="1417320"/>
          </a:xfrm>
          <a:prstGeom prst="roundRect">
            <a:avLst/>
          </a:prstGeom>
          <a:solidFill>
            <a:srgbClr val="F1F6FB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01000" y="1325880"/>
            <a:ext cx="73152" cy="1417320"/>
          </a:xfrm>
          <a:prstGeom prst="rect">
            <a:avLst/>
          </a:prstGeom>
          <a:solidFill>
            <a:srgbClr val="2C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490472"/>
            <a:ext cx="3108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46C76"/>
                </a:solidFill>
              </a:rPr>
              <a:t>Next Strongest</a:t>
            </a:r>
          </a:p>
          <a:p>
            <a:r>
              <a:rPr sz="2300" b="1">
                <a:solidFill>
                  <a:srgbClr val="182B49"/>
                </a:solidFill>
              </a:rPr>
              <a:t>Memory • Battery • 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3756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A3038"/>
                </a:solidFill>
              </a:defRPr>
            </a:pPr>
            <a:r>
              <a:t>Front Camera has the highest Random Forest importance at 0.4116.</a:t>
            </a:r>
          </a:p>
          <a:p>
            <a:pPr>
              <a:spcAft>
                <a:spcPts val="1200"/>
              </a:spcAft>
              <a:defRPr sz="1700">
                <a:solidFill>
                  <a:srgbClr val="2A3038"/>
                </a:solidFill>
              </a:defRPr>
            </a:pPr>
            <a:r>
              <a:t>Memory, Battery and RAM are the next strongest numeric contributors.</a:t>
            </a:r>
          </a:p>
          <a:p>
            <a:pPr>
              <a:spcAft>
                <a:spcPts val="1200"/>
              </a:spcAft>
              <a:defRPr sz="1700">
                <a:solidFill>
                  <a:srgbClr val="2A3038"/>
                </a:solidFill>
              </a:defRPr>
            </a:pPr>
            <a:r>
              <a:t>Selected premium phone models and processor categories also contribute to prediction.</a:t>
            </a:r>
          </a:p>
          <a:p>
            <a:pPr>
              <a:spcAft>
                <a:spcPts val="1200"/>
              </a:spcAft>
              <a:defRPr sz="1700">
                <a:solidFill>
                  <a:srgbClr val="2A3038"/>
                </a:solidFill>
              </a:defRPr>
            </a:pPr>
            <a:r>
              <a:t>Feature importance indicates predictive contribution in this model; it does not prove causation.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0704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C76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2B49"/>
                </a:solidFill>
              </a:rPr>
              <a:t>Project Output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A3038"/>
                </a:solidFill>
              </a:defRPr>
            </a:pPr>
            <a:r>
              <a:t>outputs/cleaned_mobile_phone_data.csv — cleaned dataset.</a:t>
            </a:r>
          </a:p>
          <a:p>
            <a:pPr>
              <a:spcAft>
                <a:spcPts val="1200"/>
              </a:spcAft>
              <a:defRPr sz="1700">
                <a:solidFill>
                  <a:srgbClr val="2A3038"/>
                </a:solidFill>
              </a:defRPr>
            </a:pPr>
            <a:r>
              <a:t>outputs/model_results.csv — model comparison results.</a:t>
            </a:r>
          </a:p>
          <a:p>
            <a:pPr>
              <a:spcAft>
                <a:spcPts val="1200"/>
              </a:spcAft>
              <a:defRPr sz="1700">
                <a:solidFill>
                  <a:srgbClr val="2A3038"/>
                </a:solidFill>
              </a:defRPr>
            </a:pPr>
            <a:r>
              <a:t>outputs/feature_importance.csv — Random Forest feature ranking.</a:t>
            </a:r>
          </a:p>
          <a:p>
            <a:pPr>
              <a:spcAft>
                <a:spcPts val="1200"/>
              </a:spcAft>
              <a:defRPr sz="1700">
                <a:solidFill>
                  <a:srgbClr val="2A3038"/>
                </a:solidFill>
              </a:defRPr>
            </a:pPr>
            <a:r>
              <a:t>outputs/models/mobile_price_random_forest.pkl — saved trained Random Forest model.</a:t>
            </a:r>
          </a:p>
          <a:p>
            <a:pPr>
              <a:spcAft>
                <a:spcPts val="1200"/>
              </a:spcAft>
              <a:defRPr sz="1700">
                <a:solidFill>
                  <a:srgbClr val="2A3038"/>
                </a:solidFill>
              </a:defRPr>
            </a:pPr>
            <a:r>
              <a:t>outputs/plots/ — 10 generated visualization images from EDA and model evaluation.</a:t>
            </a:r>
          </a:p>
          <a:p>
            <a:pPr>
              <a:spcAft>
                <a:spcPts val="1200"/>
              </a:spcAft>
              <a:defRPr sz="1700">
                <a:solidFill>
                  <a:srgbClr val="2A3038"/>
                </a:solidFill>
              </a:defRPr>
            </a:pPr>
            <a:r>
              <a:t>Generated plots include price distribution, feature-vs-price charts, correlation heatmap, feature importance, actual-vs-predicted and residual analysis.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C76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2B49"/>
                </a:solidFill>
              </a:rPr>
              <a:t>Business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A3038"/>
                </a:solidFill>
              </a:defRPr>
            </a:pPr>
            <a:r>
              <a:t>Use camera capability, particularly front-camera specifications, as an important pricing signal.</a:t>
            </a:r>
          </a:p>
          <a:p>
            <a:pPr>
              <a:spcAft>
                <a:spcPts val="1200"/>
              </a:spcAft>
              <a:defRPr sz="1700">
                <a:solidFill>
                  <a:srgbClr val="2A3038"/>
                </a:solidFill>
              </a:defRPr>
            </a:pPr>
            <a:r>
              <a:t>Consider memory and RAM together when creating product tiers and competitive price points.</a:t>
            </a:r>
          </a:p>
          <a:p>
            <a:pPr>
              <a:spcAft>
                <a:spcPts val="1200"/>
              </a:spcAft>
              <a:defRPr sz="1700">
                <a:solidFill>
                  <a:srgbClr val="2A3038"/>
                </a:solidFill>
              </a:defRPr>
            </a:pPr>
            <a:r>
              <a:t>Use processor and premium model characteristics when positioning higher-priced products.</a:t>
            </a:r>
          </a:p>
          <a:p>
            <a:pPr>
              <a:spcAft>
                <a:spcPts val="1200"/>
              </a:spcAft>
              <a:defRPr sz="1700">
                <a:solidFill>
                  <a:srgbClr val="2A3038"/>
                </a:solidFill>
              </a:defRPr>
            </a:pPr>
            <a:r>
              <a:t>Use battery capacity as a supporting product-positioning factor rather than a standalone price driver.</a:t>
            </a:r>
          </a:p>
          <a:p>
            <a:pPr>
              <a:spcAft>
                <a:spcPts val="1200"/>
              </a:spcAft>
              <a:defRPr sz="1700">
                <a:solidFill>
                  <a:srgbClr val="2A3038"/>
                </a:solidFill>
              </a:defRPr>
            </a:pPr>
            <a:r>
              <a:t>Use the Random Forest model for price estimation, benchmarking and portfolio analysis.</a:t>
            </a:r>
          </a:p>
          <a:p>
            <a:pPr>
              <a:spcAft>
                <a:spcPts val="1200"/>
              </a:spcAft>
              <a:defRPr sz="1700">
                <a:solidFill>
                  <a:srgbClr val="2A3038"/>
                </a:solidFill>
              </a:defRPr>
            </a:pPr>
            <a:r>
              <a:t>Retrain the model regularly as new phone models, specifications and market prices are added.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C76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2B49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A3038"/>
                </a:solidFill>
              </a:defRPr>
            </a:pPr>
            <a:r>
              <a:t>Random Forest is the stronger model for this dataset with R² = 0.8348.</a:t>
            </a:r>
          </a:p>
          <a:p>
            <a:pPr>
              <a:spcAft>
                <a:spcPts val="1200"/>
              </a:spcAft>
              <a:defRPr sz="1800">
                <a:solidFill>
                  <a:srgbClr val="2A3038"/>
                </a:solidFill>
              </a:defRPr>
            </a:pPr>
            <a:r>
              <a:t>Average absolute prediction error is approximately ₹1,898.74; RMSE is ₹4,771.00.</a:t>
            </a:r>
          </a:p>
          <a:p>
            <a:pPr>
              <a:spcAft>
                <a:spcPts val="1200"/>
              </a:spcAft>
              <a:defRPr sz="1800">
                <a:solidFill>
                  <a:srgbClr val="2A3038"/>
                </a:solidFill>
              </a:defRPr>
            </a:pPr>
            <a:r>
              <a:t>Feature extraction transformed mixed text and numeric phone specifications into a machine-learning-ready dataset.</a:t>
            </a:r>
          </a:p>
          <a:p>
            <a:pPr>
              <a:spcAft>
                <a:spcPts val="1200"/>
              </a:spcAft>
              <a:defRPr sz="1800">
                <a:solidFill>
                  <a:srgbClr val="2A3038"/>
                </a:solidFill>
              </a:defRPr>
            </a:pPr>
            <a:r>
              <a:t>Camera, memory, battery and RAM are among the most important predictive signals.</a:t>
            </a:r>
          </a:p>
          <a:p>
            <a:pPr>
              <a:spcAft>
                <a:spcPts val="1200"/>
              </a:spcAft>
              <a:defRPr sz="1800">
                <a:solidFill>
                  <a:srgbClr val="2A3038"/>
                </a:solidFill>
              </a:defRPr>
            </a:pPr>
            <a:r>
              <a:t>The project demonstrates an end-to-end workflow from data cleaning and EDA to model training, evaluation and business recommendations.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C76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BED5EE"/>
                </a:solidFill>
              </a:rPr>
              <a:t>Mobile Phone Price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605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Sayali Patil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933</Words>
  <Application>Microsoft Office PowerPoint</Application>
  <PresentationFormat>Widescreen</PresentationFormat>
  <Paragraphs>181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PKSweb</cp:lastModifiedBy>
  <cp:revision>2</cp:revision>
  <dcterms:created xsi:type="dcterms:W3CDTF">2013-01-27T09:14:16Z</dcterms:created>
  <dcterms:modified xsi:type="dcterms:W3CDTF">2026-10-06T12:46:28Z</dcterms:modified>
  <cp:category/>
</cp:coreProperties>
</file>